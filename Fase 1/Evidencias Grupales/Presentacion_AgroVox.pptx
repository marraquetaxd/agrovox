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Montserrat SemiBold"/>
      <p:regular r:id="rId16"/>
      <p:bold r:id="rId17"/>
      <p:italic r:id="rId18"/>
      <p:boldItalic r:id="rId19"/>
    </p:embeddedFont>
    <p:embeddedFont>
      <p:font typeface="Caveat"/>
      <p:regular r:id="rId20"/>
      <p:bold r:id="rId21"/>
    </p:embeddedFont>
    <p:embeddedFont>
      <p:font typeface="Inter SemiBold"/>
      <p:regular r:id="rId22"/>
      <p:bold r:id="rId23"/>
      <p:italic r:id="rId24"/>
      <p:boldItalic r:id="rId25"/>
    </p:embeddedFont>
    <p:embeddedFont>
      <p:font typeface="Poppins"/>
      <p:regular r:id="rId26"/>
      <p:bold r:id="rId27"/>
      <p:italic r:id="rId28"/>
      <p:boldItalic r:id="rId29"/>
    </p:embeddedFont>
    <p:embeddedFont>
      <p:font typeface="Inter"/>
      <p:regular r:id="rId30"/>
      <p:bold r:id="rId31"/>
      <p:italic r:id="rId32"/>
      <p:boldItalic r:id="rId33"/>
    </p:embeddedFont>
    <p:embeddedFont>
      <p:font typeface="Lato Light"/>
      <p:regular r:id="rId34"/>
      <p:bold r:id="rId35"/>
      <p:italic r:id="rId36"/>
      <p:boldItalic r:id="rId37"/>
    </p:embeddedFont>
    <p:embeddedFont>
      <p:font typeface="Poppins SemiBold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2" roundtripDataSignature="AMtx7mjjOIW2IlCJIv8vawlc7/sC1FJ2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SemiBold-italic.fntdata"/><Relationship Id="rId20" Type="http://schemas.openxmlformats.org/officeDocument/2006/relationships/font" Target="fonts/Caveat-regular.fntdata"/><Relationship Id="rId42" Type="http://customschemas.google.com/relationships/presentationmetadata" Target="metadata"/><Relationship Id="rId41" Type="http://schemas.openxmlformats.org/officeDocument/2006/relationships/font" Target="fonts/PoppinsSemiBold-boldItalic.fntdata"/><Relationship Id="rId22" Type="http://schemas.openxmlformats.org/officeDocument/2006/relationships/font" Target="fonts/InterSemiBold-regular.fntdata"/><Relationship Id="rId21" Type="http://schemas.openxmlformats.org/officeDocument/2006/relationships/font" Target="fonts/Caveat-bold.fntdata"/><Relationship Id="rId24" Type="http://schemas.openxmlformats.org/officeDocument/2006/relationships/font" Target="fonts/InterSemiBold-italic.fntdata"/><Relationship Id="rId23" Type="http://schemas.openxmlformats.org/officeDocument/2006/relationships/font" Target="fonts/Inter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regular.fntdata"/><Relationship Id="rId25" Type="http://schemas.openxmlformats.org/officeDocument/2006/relationships/font" Target="fonts/InterSemiBold-boldItalic.fntdata"/><Relationship Id="rId28" Type="http://schemas.openxmlformats.org/officeDocument/2006/relationships/font" Target="fonts/Poppins-italic.fntdata"/><Relationship Id="rId27" Type="http://schemas.openxmlformats.org/officeDocument/2006/relationships/font" Target="fonts/Poppi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-bold.fntdata"/><Relationship Id="rId30" Type="http://schemas.openxmlformats.org/officeDocument/2006/relationships/font" Target="fonts/Inter-regular.fntdata"/><Relationship Id="rId11" Type="http://schemas.openxmlformats.org/officeDocument/2006/relationships/slide" Target="slides/slide6.xml"/><Relationship Id="rId33" Type="http://schemas.openxmlformats.org/officeDocument/2006/relationships/font" Target="fonts/Inter-boldItalic.fntdata"/><Relationship Id="rId10" Type="http://schemas.openxmlformats.org/officeDocument/2006/relationships/slide" Target="slides/slide5.xml"/><Relationship Id="rId32" Type="http://schemas.openxmlformats.org/officeDocument/2006/relationships/font" Target="fonts/Inter-italic.fntdata"/><Relationship Id="rId13" Type="http://schemas.openxmlformats.org/officeDocument/2006/relationships/slide" Target="slides/slide8.xml"/><Relationship Id="rId35" Type="http://schemas.openxmlformats.org/officeDocument/2006/relationships/font" Target="fonts/LatoLight-bold.fntdata"/><Relationship Id="rId12" Type="http://schemas.openxmlformats.org/officeDocument/2006/relationships/slide" Target="slides/slide7.xml"/><Relationship Id="rId34" Type="http://schemas.openxmlformats.org/officeDocument/2006/relationships/font" Target="fonts/LatoLight-regular.fntdata"/><Relationship Id="rId15" Type="http://schemas.openxmlformats.org/officeDocument/2006/relationships/slide" Target="slides/slide10.xml"/><Relationship Id="rId37" Type="http://schemas.openxmlformats.org/officeDocument/2006/relationships/font" Target="fonts/LatoLight-boldItalic.fntdata"/><Relationship Id="rId14" Type="http://schemas.openxmlformats.org/officeDocument/2006/relationships/slide" Target="slides/slide9.xml"/><Relationship Id="rId36" Type="http://schemas.openxmlformats.org/officeDocument/2006/relationships/font" Target="fonts/LatoLight-italic.fntdata"/><Relationship Id="rId17" Type="http://schemas.openxmlformats.org/officeDocument/2006/relationships/font" Target="fonts/MontserratSemiBold-bold.fntdata"/><Relationship Id="rId39" Type="http://schemas.openxmlformats.org/officeDocument/2006/relationships/font" Target="fonts/PoppinsSemiBold-bold.fntdata"/><Relationship Id="rId16" Type="http://schemas.openxmlformats.org/officeDocument/2006/relationships/font" Target="fonts/MontserratSemiBold-regular.fntdata"/><Relationship Id="rId38" Type="http://schemas.openxmlformats.org/officeDocument/2006/relationships/font" Target="fonts/PoppinsSemiBold-regular.fntdata"/><Relationship Id="rId19" Type="http://schemas.openxmlformats.org/officeDocument/2006/relationships/font" Target="fonts/MontserratSemiBold-boldItalic.fntdata"/><Relationship Id="rId18" Type="http://schemas.openxmlformats.org/officeDocument/2006/relationships/font" Target="fonts/Montserrat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9c4288db4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f9c4288db4_0_1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9c4288db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g3f9c4288db4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f9c4288db4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0" name="Google Shape;210;g3f9c4288db4_0_1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9c4288db4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g3f9c4288db4_0_2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9c4288db4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g3f9c4288db4_0_3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9c4288db4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4" name="Google Shape;244;g3f9c4288db4_0_4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24.png"/><Relationship Id="rId5" Type="http://schemas.openxmlformats.org/officeDocument/2006/relationships/image" Target="../media/image5.png"/><Relationship Id="rId6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10" Type="http://schemas.openxmlformats.org/officeDocument/2006/relationships/image" Target="../media/image1.png"/><Relationship Id="rId9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19.png"/><Relationship Id="rId8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22.png"/><Relationship Id="rId5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14.png"/><Relationship Id="rId7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g3f9c4288db4_0_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925" y="-5922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g3f9c4288db4_0_103"/>
          <p:cNvSpPr txBox="1"/>
          <p:nvPr/>
        </p:nvSpPr>
        <p:spPr>
          <a:xfrm>
            <a:off x="1595437" y="1538287"/>
            <a:ext cx="9001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3D4035"/>
                </a:solidFill>
                <a:latin typeface="Poppins"/>
                <a:ea typeface="Poppins"/>
                <a:cs typeface="Poppins"/>
                <a:sym typeface="Poppins"/>
              </a:rPr>
              <a:t>Agro</a:t>
            </a:r>
            <a:r>
              <a:rPr b="1" i="0" lang="en-US" sz="6000" u="none" cap="none" strike="noStrike">
                <a:solidFill>
                  <a:srgbClr val="5D7A5D"/>
                </a:solidFill>
                <a:latin typeface="Poppins"/>
                <a:ea typeface="Poppins"/>
                <a:cs typeface="Poppins"/>
                <a:sym typeface="Poppins"/>
              </a:rPr>
              <a:t>Vox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3f9c4288db4_0_103"/>
          <p:cNvSpPr txBox="1"/>
          <p:nvPr/>
        </p:nvSpPr>
        <p:spPr>
          <a:xfrm>
            <a:off x="1809750" y="2662237"/>
            <a:ext cx="8572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5584D"/>
                </a:solidFill>
                <a:latin typeface="Lato Light"/>
                <a:ea typeface="Lato Light"/>
                <a:cs typeface="Lato Light"/>
                <a:sym typeface="Lato Light"/>
              </a:rPr>
              <a:t>Monitoreo Acústico Predictivo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f9c4288db4_0_103"/>
          <p:cNvSpPr/>
          <p:nvPr/>
        </p:nvSpPr>
        <p:spPr>
          <a:xfrm>
            <a:off x="5619750" y="3662362"/>
            <a:ext cx="952500" cy="1920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f9c4288db4_0_103"/>
          <p:cNvSpPr txBox="1"/>
          <p:nvPr/>
        </p:nvSpPr>
        <p:spPr>
          <a:xfrm>
            <a:off x="5211600" y="3991175"/>
            <a:ext cx="2453100" cy="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050" u="none" cap="none" strike="noStrike">
                <a:solidFill>
                  <a:srgbClr val="55584D"/>
                </a:solidFill>
                <a:latin typeface="Lato Light"/>
                <a:ea typeface="Lato Light"/>
                <a:cs typeface="Lato Light"/>
                <a:sym typeface="Lato Light"/>
              </a:rPr>
              <a:t>Pablo Vargas</a:t>
            </a:r>
            <a:endParaRPr b="0" i="0" sz="2050" u="none" cap="none" strike="noStrike">
              <a:solidFill>
                <a:srgbClr val="55584D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050" u="none" cap="none" strike="noStrike">
                <a:solidFill>
                  <a:srgbClr val="55584D"/>
                </a:solidFill>
                <a:latin typeface="Lato Light"/>
                <a:ea typeface="Lato Light"/>
                <a:cs typeface="Lato Light"/>
                <a:sym typeface="Lato Light"/>
              </a:rPr>
              <a:t>Alonso Campusano </a:t>
            </a:r>
            <a:endParaRPr b="0" i="0" sz="2050" u="none" cap="none" strike="noStrike">
              <a:solidFill>
                <a:srgbClr val="55584D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92000"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0936" y="242675"/>
            <a:ext cx="8323016" cy="6200647"/>
          </a:xfrm>
          <a:prstGeom prst="rect">
            <a:avLst/>
          </a:prstGeom>
          <a:noFill/>
          <a:ln>
            <a:noFill/>
          </a:ln>
          <a:effectLst>
            <a:outerShdw blurRad="50800" sx="101000" rotWithShape="0" algn="tl" dir="2700000" dist="38100" sy="101000">
              <a:srgbClr val="000000">
                <a:alpha val="40000"/>
              </a:srgbClr>
            </a:outerShdw>
          </a:effectLst>
        </p:spPr>
      </p:pic>
      <p:sp>
        <p:nvSpPr>
          <p:cNvPr id="94" name="Google Shape;94;p2"/>
          <p:cNvSpPr txBox="1"/>
          <p:nvPr/>
        </p:nvSpPr>
        <p:spPr>
          <a:xfrm>
            <a:off x="802550" y="242675"/>
            <a:ext cx="553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3D403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¿Qué problema ocurre?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488373" y="279623"/>
            <a:ext cx="47400" cy="55410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182375" y="2514900"/>
            <a:ext cx="1755600" cy="2575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254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2" title="Gemini_Generated_Image_mgx8eomgx8eomgx8-Photoroom.png"/>
          <p:cNvPicPr preferRelativeResize="0"/>
          <p:nvPr/>
        </p:nvPicPr>
        <p:blipFill rotWithShape="1">
          <a:blip r:embed="rId5">
            <a:alphaModFix/>
          </a:blip>
          <a:srcRect b="56731" l="9933" r="49835" t="16913"/>
          <a:stretch/>
        </p:blipFill>
        <p:spPr>
          <a:xfrm>
            <a:off x="282440" y="2716209"/>
            <a:ext cx="731685" cy="673003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"/>
          <p:cNvSpPr txBox="1"/>
          <p:nvPr/>
        </p:nvSpPr>
        <p:spPr>
          <a:xfrm>
            <a:off x="881040" y="2703585"/>
            <a:ext cx="983473" cy="4924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421E"/>
                </a:solidFill>
                <a:latin typeface="Poppins"/>
                <a:ea typeface="Poppins"/>
                <a:cs typeface="Poppins"/>
                <a:sym typeface="Poppins"/>
              </a:rPr>
              <a:t>-30%</a:t>
            </a:r>
            <a:endParaRPr b="0" i="0" sz="2000" u="none" cap="none" strike="noStrike">
              <a:solidFill>
                <a:srgbClr val="00421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965624" y="3027198"/>
            <a:ext cx="983473" cy="52319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Pérdida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productiva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00" name="Google Shape;100;p2"/>
          <p:cNvCxnSpPr/>
          <p:nvPr/>
        </p:nvCxnSpPr>
        <p:spPr>
          <a:xfrm>
            <a:off x="1040029" y="3578189"/>
            <a:ext cx="766800" cy="0"/>
          </a:xfrm>
          <a:prstGeom prst="straightConnector1">
            <a:avLst/>
          </a:prstGeom>
          <a:noFill/>
          <a:ln cap="flat" cmpd="sng" w="28575">
            <a:solidFill>
              <a:srgbClr val="00421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p2"/>
          <p:cNvSpPr txBox="1"/>
          <p:nvPr/>
        </p:nvSpPr>
        <p:spPr>
          <a:xfrm>
            <a:off x="265655" y="3628793"/>
            <a:ext cx="1672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El estrés hídrico reduce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El desarrollo y 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Producción del cultivo </a:t>
            </a:r>
            <a:endParaRPr b="0" i="0" sz="1000" u="none" cap="none" strike="noStrike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Fuente: Boletín INIA N° 510 (2024) / Moreno et al. (2019)</a:t>
            </a:r>
            <a:endParaRPr b="0"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9568924" y="2514902"/>
            <a:ext cx="1755648" cy="191408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254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10267598" y="2703585"/>
            <a:ext cx="983473" cy="4924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802275"/>
                </a:solidFill>
                <a:latin typeface="Poppins"/>
                <a:ea typeface="Poppins"/>
                <a:cs typeface="Poppins"/>
                <a:sym typeface="Poppins"/>
              </a:rPr>
              <a:t>-14,3%</a:t>
            </a:r>
            <a:endParaRPr b="0" i="0" sz="2000" u="none" cap="none" strike="noStrike">
              <a:solidFill>
                <a:srgbClr val="80227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10013739" y="3123085"/>
            <a:ext cx="1413218" cy="52319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Variación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entre camapñas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05" name="Google Shape;105;p2"/>
          <p:cNvCxnSpPr/>
          <p:nvPr/>
        </p:nvCxnSpPr>
        <p:spPr>
          <a:xfrm>
            <a:off x="10189625" y="3578189"/>
            <a:ext cx="1061446" cy="0"/>
          </a:xfrm>
          <a:prstGeom prst="straightConnector1">
            <a:avLst/>
          </a:prstGeom>
          <a:noFill/>
          <a:ln cap="flat" cmpd="sng" w="28575">
            <a:solidFill>
              <a:srgbClr val="80227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2"/>
          <p:cNvSpPr txBox="1"/>
          <p:nvPr/>
        </p:nvSpPr>
        <p:spPr>
          <a:xfrm>
            <a:off x="9652213" y="3628793"/>
            <a:ext cx="1755648" cy="80018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La producción fluctúa</a:t>
            </a:r>
            <a:endParaRPr b="0" i="0" sz="1000" u="none" cap="none" strike="noStrike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entre temporadas por</a:t>
            </a:r>
            <a:endParaRPr b="0" i="0" sz="1000" u="none" cap="none" strike="noStrike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condiciones climáticas</a:t>
            </a:r>
            <a:endParaRPr b="0" i="0" sz="1000" u="none" cap="none" strike="noStrike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e hídricas</a:t>
            </a:r>
            <a:endParaRPr b="0" i="0" sz="1000" u="none" cap="none" strike="noStrike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7" name="Google Shape;107;p2" title="Gemini_Generated_Image_mgx8eomgx8eomgx8-Photoroom.png"/>
          <p:cNvPicPr preferRelativeResize="0"/>
          <p:nvPr/>
        </p:nvPicPr>
        <p:blipFill rotWithShape="1">
          <a:blip r:embed="rId5">
            <a:alphaModFix/>
          </a:blip>
          <a:srcRect b="56732" l="53947" r="5822" t="16912"/>
          <a:stretch/>
        </p:blipFill>
        <p:spPr>
          <a:xfrm>
            <a:off x="9634655" y="2658580"/>
            <a:ext cx="767451" cy="74934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"/>
          <p:cNvSpPr/>
          <p:nvPr/>
        </p:nvSpPr>
        <p:spPr>
          <a:xfrm>
            <a:off x="8283444" y="500840"/>
            <a:ext cx="1755648" cy="165792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254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8326666" y="515371"/>
            <a:ext cx="1413218" cy="69246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vulnerabilidad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hídrica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8315970" y="1214336"/>
            <a:ext cx="1755648" cy="80018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Disponibilidad de agua</a:t>
            </a:r>
            <a:endParaRPr b="0" i="0" sz="1000" u="none" cap="none" strike="noStrike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limitada y suelos</a:t>
            </a:r>
            <a:endParaRPr b="0" i="0" sz="1000" u="none" cap="none" strike="noStrike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diferente capacidad</a:t>
            </a:r>
            <a:endParaRPr b="0" i="0" sz="1000" u="none" cap="none" strike="noStrike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de retención</a:t>
            </a:r>
            <a:endParaRPr b="0" i="0" sz="1000" u="none" cap="none" strike="noStrike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11" name="Google Shape;111;p2"/>
          <p:cNvCxnSpPr/>
          <p:nvPr/>
        </p:nvCxnSpPr>
        <p:spPr>
          <a:xfrm>
            <a:off x="8385452" y="1207838"/>
            <a:ext cx="1061446" cy="0"/>
          </a:xfrm>
          <a:prstGeom prst="straightConnector1">
            <a:avLst/>
          </a:prstGeom>
          <a:noFill/>
          <a:ln cap="flat" cmpd="sng" w="28575">
            <a:solidFill>
              <a:srgbClr val="8CB3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2"/>
          <p:cNvSpPr/>
          <p:nvPr/>
        </p:nvSpPr>
        <p:spPr>
          <a:xfrm>
            <a:off x="9508009" y="4901256"/>
            <a:ext cx="1918947" cy="174862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254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10206684" y="5089939"/>
            <a:ext cx="98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C00000"/>
                </a:solidFill>
                <a:latin typeface="Poppins"/>
                <a:ea typeface="Poppins"/>
                <a:cs typeface="Poppins"/>
                <a:sym typeface="Poppins"/>
              </a:rPr>
              <a:t>-10%</a:t>
            </a:r>
            <a:endParaRPr b="0" i="0" sz="2000" u="none" cap="none" strike="noStrike">
              <a:solidFill>
                <a:srgbClr val="C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10291268" y="5413552"/>
            <a:ext cx="1192746" cy="52319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Reducciónde rendimiento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15" name="Google Shape;115;p2"/>
          <p:cNvCxnSpPr/>
          <p:nvPr/>
        </p:nvCxnSpPr>
        <p:spPr>
          <a:xfrm>
            <a:off x="10365673" y="5964543"/>
            <a:ext cx="766800" cy="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" name="Google Shape;116;p2"/>
          <p:cNvCxnSpPr/>
          <p:nvPr/>
        </p:nvCxnSpPr>
        <p:spPr>
          <a:xfrm>
            <a:off x="1947534" y="3384680"/>
            <a:ext cx="1443366" cy="23248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2"/>
          <p:cNvSpPr txBox="1"/>
          <p:nvPr/>
        </p:nvSpPr>
        <p:spPr>
          <a:xfrm>
            <a:off x="9591299" y="6015147"/>
            <a:ext cx="1816562" cy="6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Menor rendimiento por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estrés y heterogeneidad</a:t>
            </a:r>
            <a:endParaRPr b="0" i="0" sz="1000" u="none" cap="none" strike="noStrike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Poppins"/>
                <a:ea typeface="Poppins"/>
                <a:cs typeface="Poppins"/>
                <a:sym typeface="Poppins"/>
              </a:rPr>
              <a:t>del suelo</a:t>
            </a:r>
            <a:endParaRPr b="0" i="0" sz="1000" u="none" cap="none" strike="noStrike">
              <a:solidFill>
                <a:srgbClr val="7F7F7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18" name="Google Shape;118;p2"/>
          <p:cNvCxnSpPr/>
          <p:nvPr/>
        </p:nvCxnSpPr>
        <p:spPr>
          <a:xfrm>
            <a:off x="3370567" y="3398570"/>
            <a:ext cx="655720" cy="1275824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2"/>
          <p:cNvSpPr/>
          <p:nvPr/>
        </p:nvSpPr>
        <p:spPr>
          <a:xfrm>
            <a:off x="3980686" y="4647815"/>
            <a:ext cx="109537" cy="98928"/>
          </a:xfrm>
          <a:prstGeom prst="ellipse">
            <a:avLst/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0" name="Google Shape;120;p2"/>
          <p:cNvCxnSpPr/>
          <p:nvPr/>
        </p:nvCxnSpPr>
        <p:spPr>
          <a:xfrm>
            <a:off x="7789069" y="1183470"/>
            <a:ext cx="480539" cy="0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" name="Google Shape;121;p2"/>
          <p:cNvCxnSpPr>
            <a:endCxn id="122" idx="7"/>
          </p:cNvCxnSpPr>
          <p:nvPr/>
        </p:nvCxnSpPr>
        <p:spPr>
          <a:xfrm flipH="1">
            <a:off x="6862263" y="1183569"/>
            <a:ext cx="935100" cy="541200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p2"/>
          <p:cNvSpPr/>
          <p:nvPr/>
        </p:nvSpPr>
        <p:spPr>
          <a:xfrm>
            <a:off x="6768767" y="1710281"/>
            <a:ext cx="109537" cy="98928"/>
          </a:xfrm>
          <a:prstGeom prst="ellipse">
            <a:avLst/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" name="Google Shape;123;p2"/>
          <p:cNvCxnSpPr/>
          <p:nvPr/>
        </p:nvCxnSpPr>
        <p:spPr>
          <a:xfrm>
            <a:off x="8131157" y="6015147"/>
            <a:ext cx="1357757" cy="23248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4" name="Google Shape;124;p2"/>
          <p:cNvCxnSpPr>
            <a:endCxn id="125" idx="5"/>
          </p:cNvCxnSpPr>
          <p:nvPr/>
        </p:nvCxnSpPr>
        <p:spPr>
          <a:xfrm rot="10800000">
            <a:off x="5899538" y="5228361"/>
            <a:ext cx="2251500" cy="786900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" name="Google Shape;125;p2"/>
          <p:cNvSpPr/>
          <p:nvPr/>
        </p:nvSpPr>
        <p:spPr>
          <a:xfrm>
            <a:off x="5806042" y="5143921"/>
            <a:ext cx="109537" cy="98928"/>
          </a:xfrm>
          <a:prstGeom prst="ellipse">
            <a:avLst/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"/>
          <p:cNvSpPr txBox="1"/>
          <p:nvPr/>
        </p:nvSpPr>
        <p:spPr>
          <a:xfrm>
            <a:off x="370575" y="6443325"/>
            <a:ext cx="8014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Fuentes: Pérdida y rendimiento: INIA (2024) / Variación de campañas: ASOEX y SmartCherry (2023).</a:t>
            </a:r>
            <a:endParaRPr b="0" i="0" sz="10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7" name="Google Shape;127;p2" title="Gemini_Generated_Image_r5xh6lr5xh6lr5xh-Photoroom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05102" y="4929341"/>
            <a:ext cx="2251500" cy="1228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92000"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/>
          <p:nvPr/>
        </p:nvSpPr>
        <p:spPr>
          <a:xfrm>
            <a:off x="4131189" y="1447584"/>
            <a:ext cx="3301200" cy="4620600"/>
          </a:xfrm>
          <a:prstGeom prst="roundRect">
            <a:avLst>
              <a:gd fmla="val 16667" name="adj"/>
            </a:avLst>
          </a:prstGeom>
          <a:solidFill>
            <a:srgbClr val="EAF1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9375068" y="1447571"/>
            <a:ext cx="2700049" cy="4620599"/>
          </a:xfrm>
          <a:prstGeom prst="roundRect">
            <a:avLst>
              <a:gd fmla="val 16667" name="adj"/>
            </a:avLst>
          </a:prstGeom>
          <a:solidFill>
            <a:srgbClr val="EAF1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116883" y="1447571"/>
            <a:ext cx="2700049" cy="4620599"/>
          </a:xfrm>
          <a:prstGeom prst="roundRect">
            <a:avLst>
              <a:gd fmla="val 16667" name="adj"/>
            </a:avLst>
          </a:prstGeom>
          <a:solidFill>
            <a:srgbClr val="EAF1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802554" y="341930"/>
            <a:ext cx="4306166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¿Por qué ocurre?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488373" y="378873"/>
            <a:ext cx="47338" cy="553999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3" title="Gemini_Generated_Image_7ae17w7ae17w7ae1-Photoroom.png"/>
          <p:cNvPicPr preferRelativeResize="0"/>
          <p:nvPr/>
        </p:nvPicPr>
        <p:blipFill rotWithShape="1">
          <a:blip r:embed="rId4">
            <a:alphaModFix/>
          </a:blip>
          <a:srcRect b="13559" l="0" r="70994" t="11366"/>
          <a:stretch/>
        </p:blipFill>
        <p:spPr>
          <a:xfrm>
            <a:off x="-57812" y="2133236"/>
            <a:ext cx="2765549" cy="3900426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3"/>
          <p:cNvSpPr txBox="1"/>
          <p:nvPr/>
        </p:nvSpPr>
        <p:spPr>
          <a:xfrm>
            <a:off x="-57809" y="1664267"/>
            <a:ext cx="252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Suelo Seco</a:t>
            </a:r>
            <a:endParaRPr b="0" i="0" sz="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4176492" y="1447571"/>
            <a:ext cx="321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Cavitación: Explosión Interna y Ruptura</a:t>
            </a:r>
            <a:endParaRPr b="0" i="0" sz="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0" name="Google Shape;140;p3"/>
          <p:cNvSpPr txBox="1"/>
          <p:nvPr/>
        </p:nvSpPr>
        <p:spPr>
          <a:xfrm>
            <a:off x="9560046" y="1447572"/>
            <a:ext cx="2289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 Obstrucción y Bloqueo Total</a:t>
            </a:r>
            <a:endParaRPr b="0" i="0" sz="2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1" name="Google Shape;141;p3"/>
          <p:cNvSpPr txBox="1"/>
          <p:nvPr/>
        </p:nvSpPr>
        <p:spPr>
          <a:xfrm>
            <a:off x="1086413" y="6204039"/>
            <a:ext cx="10019173" cy="55396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Esto pasa con millones de tubos llamados Vasos o Traqueida</a:t>
            </a:r>
            <a:endParaRPr b="1" i="0" sz="2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2" name="Google Shape;142;p3" title="Gemini_Generated_Image_7ae17w7ae17w7ae1-Photoroom.png"/>
          <p:cNvPicPr preferRelativeResize="0"/>
          <p:nvPr/>
        </p:nvPicPr>
        <p:blipFill rotWithShape="1">
          <a:blip r:embed="rId4">
            <a:alphaModFix/>
          </a:blip>
          <a:srcRect b="13559" l="53015" r="22184" t="11366"/>
          <a:stretch/>
        </p:blipFill>
        <p:spPr>
          <a:xfrm>
            <a:off x="4599538" y="2068805"/>
            <a:ext cx="2364524" cy="3900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3" title="Gemini_Generated_Image_7ae17w7ae17w7ae1-Photoroom.png"/>
          <p:cNvPicPr preferRelativeResize="0"/>
          <p:nvPr/>
        </p:nvPicPr>
        <p:blipFill rotWithShape="1">
          <a:blip r:embed="rId4">
            <a:alphaModFix/>
          </a:blip>
          <a:srcRect b="12462" l="76853" r="-636" t="12462"/>
          <a:stretch/>
        </p:blipFill>
        <p:spPr>
          <a:xfrm>
            <a:off x="9571155" y="2167744"/>
            <a:ext cx="2267378" cy="390042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3"/>
          <p:cNvSpPr txBox="1"/>
          <p:nvPr/>
        </p:nvSpPr>
        <p:spPr>
          <a:xfrm>
            <a:off x="9866695" y="2260081"/>
            <a:ext cx="1872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rPr>
              <a:t>Bloqueo de Aire, Flujo Interrumpido</a:t>
            </a:r>
            <a:endParaRPr b="1" i="0" sz="1500" u="none" cap="none" strike="noStrike">
              <a:solidFill>
                <a:schemeClr val="dk1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45" name="Google Shape;145;p3"/>
          <p:cNvSpPr txBox="1"/>
          <p:nvPr/>
        </p:nvSpPr>
        <p:spPr>
          <a:xfrm>
            <a:off x="4890875" y="5213935"/>
            <a:ext cx="1872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rPr>
              <a:t>Burbuja de aire se expande</a:t>
            </a:r>
            <a:endParaRPr b="1" i="0" sz="1500" u="none" cap="none" strike="noStrike">
              <a:solidFill>
                <a:schemeClr val="dk1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92000"/>
          </a:blip>
          <a:stretch>
            <a:fillRect/>
          </a:stretch>
        </a:blip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"/>
          <p:cNvSpPr/>
          <p:nvPr/>
        </p:nvSpPr>
        <p:spPr>
          <a:xfrm>
            <a:off x="7036650" y="317600"/>
            <a:ext cx="4793700" cy="1182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419121" y="130700"/>
            <a:ext cx="4306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Hardware Edge AI 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 Bajo Costo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225012" y="152002"/>
            <a:ext cx="65700" cy="99720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p4"/>
          <p:cNvCxnSpPr/>
          <p:nvPr/>
        </p:nvCxnSpPr>
        <p:spPr>
          <a:xfrm>
            <a:off x="1807550" y="2735009"/>
            <a:ext cx="18900" cy="7311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4" name="Google Shape;154;p4"/>
          <p:cNvSpPr txBox="1"/>
          <p:nvPr/>
        </p:nvSpPr>
        <p:spPr>
          <a:xfrm>
            <a:off x="1394700" y="2003375"/>
            <a:ext cx="1783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DETECCIÓN PREVENTIVA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1394700" y="3551225"/>
            <a:ext cx="3177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PROCESAMIENTO LOCAL DE EDGE 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4"/>
          <p:cNvSpPr txBox="1"/>
          <p:nvPr/>
        </p:nvSpPr>
        <p:spPr>
          <a:xfrm>
            <a:off x="1394700" y="5273369"/>
            <a:ext cx="252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ALERTA PREVENTIVA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4"/>
          <p:cNvPicPr preferRelativeResize="0"/>
          <p:nvPr/>
        </p:nvPicPr>
        <p:blipFill rotWithShape="1">
          <a:blip r:embed="rId4">
            <a:alphaModFix/>
          </a:blip>
          <a:srcRect b="0" l="0" r="47622" t="0"/>
          <a:stretch/>
        </p:blipFill>
        <p:spPr>
          <a:xfrm>
            <a:off x="9846450" y="5168800"/>
            <a:ext cx="2044517" cy="904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4"/>
          <p:cNvSpPr txBox="1"/>
          <p:nvPr/>
        </p:nvSpPr>
        <p:spPr>
          <a:xfrm>
            <a:off x="8786806" y="416289"/>
            <a:ext cx="29538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Ingeniero Agrónomo de la </a:t>
            </a:r>
            <a:endParaRPr b="0" i="0" sz="1300" u="none" cap="none" strike="noStrik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Universidad de Chile, y PhD en Biología Vegetal con especialidad en fisiología.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99052" y="514856"/>
            <a:ext cx="627869" cy="604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4"/>
          <p:cNvSpPr txBox="1"/>
          <p:nvPr/>
        </p:nvSpPr>
        <p:spPr>
          <a:xfrm>
            <a:off x="6837491" y="1081457"/>
            <a:ext cx="2309700" cy="3693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Reinaldo Campos Vargas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p4" title="image-Photoroom.png"/>
          <p:cNvPicPr preferRelativeResize="0"/>
          <p:nvPr/>
        </p:nvPicPr>
        <p:blipFill rotWithShape="1">
          <a:blip r:embed="rId6">
            <a:alphaModFix/>
          </a:blip>
          <a:srcRect b="29587" l="0" r="0" t="0"/>
          <a:stretch/>
        </p:blipFill>
        <p:spPr>
          <a:xfrm rot="831065">
            <a:off x="11157567" y="139114"/>
            <a:ext cx="1238319" cy="6260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2" name="Google Shape;162;p4"/>
          <p:cNvCxnSpPr/>
          <p:nvPr/>
        </p:nvCxnSpPr>
        <p:spPr>
          <a:xfrm>
            <a:off x="1826450" y="4369996"/>
            <a:ext cx="18900" cy="7311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163" name="Google Shape;163;p4" title="Gemini_Generated_Image_ox9idwox9idwox9i-Photoroom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85337" y="1679736"/>
            <a:ext cx="8055316" cy="4393474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4"/>
          <p:cNvSpPr/>
          <p:nvPr/>
        </p:nvSpPr>
        <p:spPr>
          <a:xfrm>
            <a:off x="5382725" y="2168875"/>
            <a:ext cx="1041000" cy="300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 txBox="1"/>
          <p:nvPr/>
        </p:nvSpPr>
        <p:spPr>
          <a:xfrm>
            <a:off x="5339650" y="2126550"/>
            <a:ext cx="110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Vivienda del agricultor</a:t>
            </a:r>
            <a:endParaRPr b="1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centro de control</a:t>
            </a:r>
            <a:endParaRPr b="1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9628675" y="2325875"/>
            <a:ext cx="1041000" cy="162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 txBox="1"/>
          <p:nvPr/>
        </p:nvSpPr>
        <p:spPr>
          <a:xfrm>
            <a:off x="9583975" y="2252975"/>
            <a:ext cx="113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Gateway Norte</a:t>
            </a:r>
            <a:endParaRPr b="1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4" title="Sin título-modified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0700" y="1867050"/>
            <a:ext cx="904249" cy="904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4" title="Sin título(1)-modified.png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90700" y="3399450"/>
            <a:ext cx="904251" cy="904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4" title="Sin título(2)-modified.png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90710" y="5005896"/>
            <a:ext cx="904250" cy="9042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92000"/>
          </a:blip>
          <a:stretch>
            <a:fillRect/>
          </a:stretch>
        </a:blip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g3f9c4288db4_0_0" title="Gemini_Generated_Image_350f0d350f0d350f2 (1)-Photoroo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4475" y="810025"/>
            <a:ext cx="9385226" cy="5237949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3f9c4288db4_0_0"/>
          <p:cNvSpPr txBox="1"/>
          <p:nvPr/>
        </p:nvSpPr>
        <p:spPr>
          <a:xfrm>
            <a:off x="417775" y="130775"/>
            <a:ext cx="70656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Arquitectura IoT de 3 Capas</a:t>
            </a:r>
            <a:endParaRPr b="1" i="0" sz="3600" u="none" cap="none" strike="noStrike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3D4035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77" name="Google Shape;177;g3f9c4288db4_0_0"/>
          <p:cNvSpPr/>
          <p:nvPr/>
        </p:nvSpPr>
        <p:spPr>
          <a:xfrm>
            <a:off x="182975" y="130773"/>
            <a:ext cx="65100" cy="54420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f9c4288db4_0_0"/>
          <p:cNvSpPr txBox="1"/>
          <p:nvPr/>
        </p:nvSpPr>
        <p:spPr>
          <a:xfrm>
            <a:off x="1453225" y="2310025"/>
            <a:ext cx="1011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Detección de cavitación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f9c4288db4_0_0"/>
          <p:cNvSpPr txBox="1"/>
          <p:nvPr/>
        </p:nvSpPr>
        <p:spPr>
          <a:xfrm>
            <a:off x="1146775" y="927425"/>
            <a:ext cx="1804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Capa de Percepción y Borde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f9c4288db4_0_0"/>
          <p:cNvSpPr txBox="1"/>
          <p:nvPr/>
        </p:nvSpPr>
        <p:spPr>
          <a:xfrm>
            <a:off x="1594975" y="2882775"/>
            <a:ext cx="1011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Datos Livianos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f9c4288db4_0_0"/>
          <p:cNvSpPr txBox="1"/>
          <p:nvPr/>
        </p:nvSpPr>
        <p:spPr>
          <a:xfrm>
            <a:off x="1534400" y="1269875"/>
            <a:ext cx="1379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Nodo AgroVox: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ESP32 + Piezo</a:t>
            </a: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f9c4288db4_0_0"/>
          <p:cNvSpPr txBox="1"/>
          <p:nvPr/>
        </p:nvSpPr>
        <p:spPr>
          <a:xfrm>
            <a:off x="1594975" y="3732275"/>
            <a:ext cx="1011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Modulo LoRa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3f9c4288db4_0_0"/>
          <p:cNvSpPr txBox="1"/>
          <p:nvPr/>
        </p:nvSpPr>
        <p:spPr>
          <a:xfrm>
            <a:off x="3975475" y="927425"/>
            <a:ext cx="11187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Capa de Red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f9c4288db4_0_0"/>
          <p:cNvSpPr txBox="1"/>
          <p:nvPr/>
        </p:nvSpPr>
        <p:spPr>
          <a:xfrm>
            <a:off x="6252800" y="927425"/>
            <a:ext cx="1804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Capa Cloud y Backend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f9c4288db4_0_0"/>
          <p:cNvSpPr txBox="1"/>
          <p:nvPr/>
        </p:nvSpPr>
        <p:spPr>
          <a:xfrm>
            <a:off x="3785575" y="2310025"/>
            <a:ext cx="14985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Gateway Central LoRa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f9c4288db4_0_0"/>
          <p:cNvSpPr txBox="1"/>
          <p:nvPr/>
        </p:nvSpPr>
        <p:spPr>
          <a:xfrm>
            <a:off x="6279875" y="3429000"/>
            <a:ext cx="1804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Capa de Cliente Final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g3f9c4288db4_0_0"/>
          <p:cNvSpPr txBox="1"/>
          <p:nvPr/>
        </p:nvSpPr>
        <p:spPr>
          <a:xfrm>
            <a:off x="3904250" y="3585800"/>
            <a:ext cx="14184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 Wi-Fi / 4G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3f9c4288db4_0_0"/>
          <p:cNvSpPr txBox="1"/>
          <p:nvPr/>
        </p:nvSpPr>
        <p:spPr>
          <a:xfrm>
            <a:off x="8492250" y="850475"/>
            <a:ext cx="1804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Capa de Administración AgroVox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f9c4288db4_0_0"/>
          <p:cNvSpPr txBox="1"/>
          <p:nvPr/>
        </p:nvSpPr>
        <p:spPr>
          <a:xfrm>
            <a:off x="3785575" y="4049775"/>
            <a:ext cx="14184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Protocolo MQTT / HTTP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f9c4288db4_0_0"/>
          <p:cNvSpPr txBox="1"/>
          <p:nvPr/>
        </p:nvSpPr>
        <p:spPr>
          <a:xfrm>
            <a:off x="8704800" y="1300475"/>
            <a:ext cx="1379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 Web Frontend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f9c4288db4_0_0"/>
          <p:cNvSpPr txBox="1"/>
          <p:nvPr/>
        </p:nvSpPr>
        <p:spPr>
          <a:xfrm>
            <a:off x="8770525" y="2743425"/>
            <a:ext cx="1379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Equipo AgroVox: Soporte Técnico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f9c4288db4_0_0"/>
          <p:cNvSpPr txBox="1"/>
          <p:nvPr/>
        </p:nvSpPr>
        <p:spPr>
          <a:xfrm>
            <a:off x="6377125" y="1300475"/>
            <a:ext cx="14184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 Server Node.js/Python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f9c4288db4_0_0"/>
          <p:cNvSpPr txBox="1"/>
          <p:nvPr/>
        </p:nvSpPr>
        <p:spPr>
          <a:xfrm>
            <a:off x="6544325" y="2450250"/>
            <a:ext cx="1379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 de Datos PostgreSQL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f9c4288db4_0_0"/>
          <p:cNvSpPr txBox="1"/>
          <p:nvPr/>
        </p:nvSpPr>
        <p:spPr>
          <a:xfrm>
            <a:off x="6396475" y="3808700"/>
            <a:ext cx="137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WhatsApp Business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f9c4288db4_0_0"/>
          <p:cNvSpPr txBox="1"/>
          <p:nvPr/>
        </p:nvSpPr>
        <p:spPr>
          <a:xfrm>
            <a:off x="2605975" y="2796325"/>
            <a:ext cx="14184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Radiofrecuencia LoRa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f9c4288db4_0_0"/>
          <p:cNvSpPr txBox="1"/>
          <p:nvPr/>
        </p:nvSpPr>
        <p:spPr>
          <a:xfrm>
            <a:off x="6544325" y="4997950"/>
            <a:ext cx="1379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Agricultor: Alerta Interactiva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f9c4288db4_0_0"/>
          <p:cNvSpPr txBox="1"/>
          <p:nvPr/>
        </p:nvSpPr>
        <p:spPr>
          <a:xfrm>
            <a:off x="5767488" y="2796325"/>
            <a:ext cx="14184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Webhook 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f9c4288db4_0_0"/>
          <p:cNvSpPr txBox="1"/>
          <p:nvPr/>
        </p:nvSpPr>
        <p:spPr>
          <a:xfrm>
            <a:off x="7622125" y="1866250"/>
            <a:ext cx="158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 REST / WebSockets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f9c4288db4_0_0"/>
          <p:cNvSpPr txBox="1"/>
          <p:nvPr/>
        </p:nvSpPr>
        <p:spPr>
          <a:xfrm>
            <a:off x="1453225" y="1911150"/>
            <a:ext cx="14184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Interferencia TinyML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05874" y="1012507"/>
            <a:ext cx="3152775" cy="31527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5"/>
          <p:cNvSpPr/>
          <p:nvPr/>
        </p:nvSpPr>
        <p:spPr>
          <a:xfrm>
            <a:off x="9169400" y="4368800"/>
            <a:ext cx="2889250" cy="2368550"/>
          </a:xfrm>
          <a:prstGeom prst="roundRect">
            <a:avLst>
              <a:gd fmla="val 16667" name="adj"/>
            </a:avLst>
          </a:prstGeom>
          <a:solidFill>
            <a:schemeClr val="lt1">
              <a:alpha val="38039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7" name="Google Shape;20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58236" y="4451667"/>
            <a:ext cx="4048052" cy="22028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900">
        <p14:warp dir="in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92000"/>
          </a:blip>
          <a:stretch>
            <a:fillRect/>
          </a:stretch>
        </a:blip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9c4288db4_0_186"/>
          <p:cNvSpPr txBox="1"/>
          <p:nvPr/>
        </p:nvSpPr>
        <p:spPr>
          <a:xfrm>
            <a:off x="417775" y="130775"/>
            <a:ext cx="7065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Diagrama caso de Uso</a:t>
            </a:r>
            <a:endParaRPr b="1" i="0" sz="3600" u="none" cap="none" strike="noStrike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3D4035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13" name="Google Shape;213;g3f9c4288db4_0_186"/>
          <p:cNvSpPr/>
          <p:nvPr/>
        </p:nvSpPr>
        <p:spPr>
          <a:xfrm>
            <a:off x="182975" y="130773"/>
            <a:ext cx="65100" cy="54420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g3f9c4288db4_0_186" title="UC_1_Nodo_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237050"/>
            <a:ext cx="6160525" cy="169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g3f9c4288db4_0_186" title="UC_2_Investigado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62900" y="760525"/>
            <a:ext cx="6777824" cy="5525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g3f9c4288db4_0_186" title="UC_3_EquipoAgroVox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3185625"/>
            <a:ext cx="6011325" cy="17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g3f9c4288db4_0_186" title="UC_4_Agricultor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0" y="5207575"/>
            <a:ext cx="6011325" cy="165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92000"/>
          </a:blip>
          <a:stretch>
            <a:fillRect/>
          </a:stretch>
        </a:blip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9c4288db4_0_270"/>
          <p:cNvSpPr txBox="1"/>
          <p:nvPr/>
        </p:nvSpPr>
        <p:spPr>
          <a:xfrm>
            <a:off x="314750" y="130775"/>
            <a:ext cx="11922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Dashboard para equipo de Monitoreo</a:t>
            </a:r>
            <a:endParaRPr b="1" sz="36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3D4035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23" name="Google Shape;223;g3f9c4288db4_0_270"/>
          <p:cNvSpPr/>
          <p:nvPr/>
        </p:nvSpPr>
        <p:spPr>
          <a:xfrm>
            <a:off x="182975" y="130773"/>
            <a:ext cx="65100" cy="54420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g3f9c4288db4_0_2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2975" y="764463"/>
            <a:ext cx="11922424" cy="5904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92000"/>
          </a:blip>
          <a:stretch>
            <a:fillRect/>
          </a:stretch>
        </a:blip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29;g3f9c4288db4_0_351"/>
          <p:cNvGrpSpPr/>
          <p:nvPr/>
        </p:nvGrpSpPr>
        <p:grpSpPr>
          <a:xfrm>
            <a:off x="417775" y="1776525"/>
            <a:ext cx="2530800" cy="4158775"/>
            <a:chOff x="784050" y="1776525"/>
            <a:chExt cx="2530800" cy="4158775"/>
          </a:xfrm>
        </p:grpSpPr>
        <p:sp>
          <p:nvSpPr>
            <p:cNvPr id="230" name="Google Shape;230;g3f9c4288db4_0_351"/>
            <p:cNvSpPr/>
            <p:nvPr/>
          </p:nvSpPr>
          <p:spPr>
            <a:xfrm>
              <a:off x="784050" y="1776525"/>
              <a:ext cx="2530800" cy="4158600"/>
            </a:xfrm>
            <a:prstGeom prst="roundRect">
              <a:avLst>
                <a:gd fmla="val 16667" name="adj"/>
              </a:avLst>
            </a:prstGeom>
            <a:solidFill>
              <a:srgbClr val="8CB3E3"/>
            </a:solidFill>
            <a:ln cap="flat" cmpd="sng" w="9525">
              <a:solidFill>
                <a:srgbClr val="CFE2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g3f9c4288db4_0_351"/>
            <p:cNvSpPr/>
            <p:nvPr/>
          </p:nvSpPr>
          <p:spPr>
            <a:xfrm>
              <a:off x="784050" y="1846000"/>
              <a:ext cx="2530800" cy="4089300"/>
            </a:xfrm>
            <a:prstGeom prst="roundRect">
              <a:avLst>
                <a:gd fmla="val 16667" name="adj"/>
              </a:avLst>
            </a:prstGeom>
            <a:solidFill>
              <a:srgbClr val="D9EAD3"/>
            </a:solidFill>
            <a:ln cap="flat" cmpd="sng" w="9525">
              <a:solidFill>
                <a:srgbClr val="C6EEB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</a:rPr>
                <a:t>1.Partner Académico</a:t>
              </a:r>
              <a:r>
                <a:rPr lang="en-US" sz="2400">
                  <a:solidFill>
                    <a:schemeClr val="dk1"/>
                  </a:solidFill>
                </a:rPr>
                <a:t> </a:t>
              </a:r>
              <a:endParaRPr sz="24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</a:rPr>
                <a:t>Universidad de Chile (Agronomía).</a:t>
              </a:r>
              <a:endParaRPr sz="2400">
                <a:solidFill>
                  <a:schemeClr val="dk1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2" name="Google Shape;232;g3f9c4288db4_0_351"/>
          <p:cNvGrpSpPr/>
          <p:nvPr/>
        </p:nvGrpSpPr>
        <p:grpSpPr>
          <a:xfrm>
            <a:off x="3304138" y="1776525"/>
            <a:ext cx="2530800" cy="4158775"/>
            <a:chOff x="784050" y="1776525"/>
            <a:chExt cx="2530800" cy="4158775"/>
          </a:xfrm>
        </p:grpSpPr>
        <p:sp>
          <p:nvSpPr>
            <p:cNvPr id="233" name="Google Shape;233;g3f9c4288db4_0_351"/>
            <p:cNvSpPr/>
            <p:nvPr/>
          </p:nvSpPr>
          <p:spPr>
            <a:xfrm>
              <a:off x="784050" y="1776525"/>
              <a:ext cx="2530800" cy="4158600"/>
            </a:xfrm>
            <a:prstGeom prst="roundRect">
              <a:avLst>
                <a:gd fmla="val 16667" name="adj"/>
              </a:avLst>
            </a:prstGeom>
            <a:solidFill>
              <a:srgbClr val="8CB3E3"/>
            </a:solidFill>
            <a:ln cap="flat" cmpd="sng" w="9525">
              <a:solidFill>
                <a:srgbClr val="CFE2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g3f9c4288db4_0_351"/>
            <p:cNvSpPr/>
            <p:nvPr/>
          </p:nvSpPr>
          <p:spPr>
            <a:xfrm>
              <a:off x="784050" y="1846000"/>
              <a:ext cx="2530800" cy="4089300"/>
            </a:xfrm>
            <a:prstGeom prst="roundRect">
              <a:avLst>
                <a:gd fmla="val 16667" name="adj"/>
              </a:avLst>
            </a:prstGeom>
            <a:solidFill>
              <a:srgbClr val="D9EAD3"/>
            </a:solidFill>
            <a:ln cap="flat" cmpd="sng" w="9525">
              <a:solidFill>
                <a:srgbClr val="C6EEB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</a:rPr>
                <a:t>2.Entorno</a:t>
              </a:r>
              <a:r>
                <a:rPr lang="en-US" sz="2400">
                  <a:solidFill>
                    <a:schemeClr val="dk1"/>
                  </a:solidFill>
                </a:rPr>
                <a:t> </a:t>
              </a:r>
              <a:endParaRPr sz="24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</a:rPr>
                <a:t>Parcela experimental controlada.</a:t>
              </a:r>
              <a:endParaRPr sz="2400">
                <a:solidFill>
                  <a:schemeClr val="dk1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5" name="Google Shape;235;g3f9c4288db4_0_351"/>
          <p:cNvGrpSpPr/>
          <p:nvPr/>
        </p:nvGrpSpPr>
        <p:grpSpPr>
          <a:xfrm>
            <a:off x="6190531" y="1776525"/>
            <a:ext cx="2644939" cy="4158775"/>
            <a:chOff x="784050" y="1776525"/>
            <a:chExt cx="2530800" cy="4158775"/>
          </a:xfrm>
        </p:grpSpPr>
        <p:sp>
          <p:nvSpPr>
            <p:cNvPr id="236" name="Google Shape;236;g3f9c4288db4_0_351"/>
            <p:cNvSpPr/>
            <p:nvPr/>
          </p:nvSpPr>
          <p:spPr>
            <a:xfrm>
              <a:off x="784050" y="1776525"/>
              <a:ext cx="2530800" cy="4158600"/>
            </a:xfrm>
            <a:prstGeom prst="roundRect">
              <a:avLst>
                <a:gd fmla="val 16667" name="adj"/>
              </a:avLst>
            </a:prstGeom>
            <a:solidFill>
              <a:srgbClr val="8CB3E3"/>
            </a:solidFill>
            <a:ln cap="flat" cmpd="sng" w="9525">
              <a:solidFill>
                <a:srgbClr val="CFE2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g3f9c4288db4_0_351"/>
            <p:cNvSpPr/>
            <p:nvPr/>
          </p:nvSpPr>
          <p:spPr>
            <a:xfrm>
              <a:off x="784050" y="1846000"/>
              <a:ext cx="2530800" cy="4089300"/>
            </a:xfrm>
            <a:prstGeom prst="roundRect">
              <a:avLst>
                <a:gd fmla="val 16667" name="adj"/>
              </a:avLst>
            </a:prstGeom>
            <a:solidFill>
              <a:srgbClr val="D9EAD3"/>
            </a:solidFill>
            <a:ln cap="flat" cmpd="sng" w="9525">
              <a:solidFill>
                <a:srgbClr val="C6EEB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</a:rPr>
                <a:t>3.Metodología</a:t>
              </a:r>
              <a:endParaRPr b="1" sz="24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400">
                  <a:solidFill>
                    <a:schemeClr val="dk1"/>
                  </a:solidFill>
                </a:rPr>
                <a:t>Inducción de estrés hídrico en distintos escenarios.</a:t>
              </a:r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8" name="Google Shape;238;g3f9c4288db4_0_351"/>
          <p:cNvSpPr/>
          <p:nvPr/>
        </p:nvSpPr>
        <p:spPr>
          <a:xfrm>
            <a:off x="9200875" y="1776525"/>
            <a:ext cx="2727900" cy="4158600"/>
          </a:xfrm>
          <a:prstGeom prst="roundRect">
            <a:avLst>
              <a:gd fmla="val 16667" name="adj"/>
            </a:avLst>
          </a:prstGeom>
          <a:solidFill>
            <a:srgbClr val="8CB3E3"/>
          </a:solidFill>
          <a:ln cap="flat" cmpd="sng" w="9525">
            <a:solidFill>
              <a:srgbClr val="CFE2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3f9c4288db4_0_351"/>
          <p:cNvSpPr/>
          <p:nvPr/>
        </p:nvSpPr>
        <p:spPr>
          <a:xfrm>
            <a:off x="9200875" y="1846000"/>
            <a:ext cx="2727900" cy="4089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rgbClr val="C6EE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4.Objetivo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Generar la base de datos acústica para entrenar nuestra Inteligencia Artificial.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3f9c4288db4_0_351"/>
          <p:cNvSpPr txBox="1"/>
          <p:nvPr/>
        </p:nvSpPr>
        <p:spPr>
          <a:xfrm>
            <a:off x="417775" y="130775"/>
            <a:ext cx="6595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 quien pilotearemos la</a:t>
            </a:r>
            <a:endParaRPr b="1" sz="36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idea?</a:t>
            </a:r>
            <a:endParaRPr b="1" sz="36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3D4035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41" name="Google Shape;241;g3f9c4288db4_0_351"/>
          <p:cNvSpPr/>
          <p:nvPr/>
        </p:nvSpPr>
        <p:spPr>
          <a:xfrm>
            <a:off x="182975" y="130773"/>
            <a:ext cx="65100" cy="54420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92000"/>
          </a:blip>
          <a:stretch>
            <a:fillRect/>
          </a:stretch>
        </a:blip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9c4288db4_0_442"/>
          <p:cNvSpPr/>
          <p:nvPr/>
        </p:nvSpPr>
        <p:spPr>
          <a:xfrm>
            <a:off x="4465725" y="1870200"/>
            <a:ext cx="3260700" cy="1733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g3f9c4288db4_0_442"/>
          <p:cNvSpPr/>
          <p:nvPr/>
        </p:nvSpPr>
        <p:spPr>
          <a:xfrm>
            <a:off x="8332875" y="4181475"/>
            <a:ext cx="3260700" cy="1733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f9c4288db4_0_442"/>
          <p:cNvSpPr/>
          <p:nvPr/>
        </p:nvSpPr>
        <p:spPr>
          <a:xfrm>
            <a:off x="637200" y="4181475"/>
            <a:ext cx="3260700" cy="1648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3f9c4288db4_0_442"/>
          <p:cNvSpPr txBox="1"/>
          <p:nvPr/>
        </p:nvSpPr>
        <p:spPr>
          <a:xfrm>
            <a:off x="719850" y="303926"/>
            <a:ext cx="4306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Carta Gantt</a:t>
            </a:r>
            <a:endParaRPr b="1" i="0" sz="3600" u="none" cap="none" strike="noStrike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3D4035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50" name="Google Shape;250;g3f9c4288db4_0_442"/>
          <p:cNvSpPr/>
          <p:nvPr/>
        </p:nvSpPr>
        <p:spPr>
          <a:xfrm>
            <a:off x="571500" y="177650"/>
            <a:ext cx="65700" cy="81570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f9c4288db4_0_442"/>
          <p:cNvSpPr/>
          <p:nvPr/>
        </p:nvSpPr>
        <p:spPr>
          <a:xfrm>
            <a:off x="571500" y="3799400"/>
            <a:ext cx="11049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3f9c4288db4_0_442"/>
          <p:cNvSpPr txBox="1"/>
          <p:nvPr/>
        </p:nvSpPr>
        <p:spPr>
          <a:xfrm>
            <a:off x="698658" y="4351850"/>
            <a:ext cx="30603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50" u="none" cap="none" strike="noStrike">
                <a:solidFill>
                  <a:srgbClr val="10B98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FASE 1 (Sem. 1-6)</a:t>
            </a:r>
            <a:endParaRPr sz="1600"/>
          </a:p>
        </p:txBody>
      </p:sp>
      <p:sp>
        <p:nvSpPr>
          <p:cNvPr id="253" name="Google Shape;253;g3f9c4288db4_0_442"/>
          <p:cNvSpPr txBox="1"/>
          <p:nvPr/>
        </p:nvSpPr>
        <p:spPr>
          <a:xfrm>
            <a:off x="771525" y="4704275"/>
            <a:ext cx="29148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Prototipado y Conectividad</a:t>
            </a:r>
            <a:b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Ensamblaje físico del hardware y setup base del backend. Hito: Nodo logrando capturar y transmitir datos.</a:t>
            </a:r>
            <a:endParaRPr sz="1600"/>
          </a:p>
        </p:txBody>
      </p:sp>
      <p:sp>
        <p:nvSpPr>
          <p:cNvPr id="254" name="Google Shape;254;g3f9c4288db4_0_442"/>
          <p:cNvSpPr txBox="1"/>
          <p:nvPr/>
        </p:nvSpPr>
        <p:spPr>
          <a:xfrm>
            <a:off x="4565808" y="2018225"/>
            <a:ext cx="30603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50" u="none" cap="none" strike="noStrike">
                <a:solidFill>
                  <a:srgbClr val="10B98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FASE 2 (Sem. 7-14)</a:t>
            </a:r>
            <a:endParaRPr sz="1600"/>
          </a:p>
        </p:txBody>
      </p:sp>
      <p:sp>
        <p:nvSpPr>
          <p:cNvPr id="255" name="Google Shape;255;g3f9c4288db4_0_442"/>
          <p:cNvSpPr txBox="1"/>
          <p:nvPr/>
        </p:nvSpPr>
        <p:spPr>
          <a:xfrm>
            <a:off x="4638675" y="2370650"/>
            <a:ext cx="2914800" cy="10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IA, Interfaz e Integración</a:t>
            </a:r>
            <a:b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Entrenamiento del modelo AI, diseño del Dashboard e integración API. Hito: Envío exitoso de alerta a WhatsApp.</a:t>
            </a:r>
            <a:endParaRPr sz="1600"/>
          </a:p>
        </p:txBody>
      </p:sp>
      <p:sp>
        <p:nvSpPr>
          <p:cNvPr id="256" name="Google Shape;256;g3f9c4288db4_0_442"/>
          <p:cNvSpPr txBox="1"/>
          <p:nvPr/>
        </p:nvSpPr>
        <p:spPr>
          <a:xfrm>
            <a:off x="8432958" y="4351850"/>
            <a:ext cx="30603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50" u="none" cap="none" strike="noStrike">
                <a:solidFill>
                  <a:srgbClr val="10B98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FASE 3 (Sem. 15-18)</a:t>
            </a:r>
            <a:endParaRPr sz="1600"/>
          </a:p>
        </p:txBody>
      </p:sp>
      <p:sp>
        <p:nvSpPr>
          <p:cNvPr id="257" name="Google Shape;257;g3f9c4288db4_0_442"/>
          <p:cNvSpPr txBox="1"/>
          <p:nvPr/>
        </p:nvSpPr>
        <p:spPr>
          <a:xfrm>
            <a:off x="8505825" y="4704275"/>
            <a:ext cx="2914800" cy="10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5" u="none" cap="none" strike="noStrik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Pruebas de Estrés y Cierre</a:t>
            </a:r>
            <a:b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Ajustes de falsos positivos en terreno, pruebas end-to-end y preparación comercial para el Demo Day.</a:t>
            </a:r>
            <a:endParaRPr sz="1600"/>
          </a:p>
        </p:txBody>
      </p:sp>
      <p:sp>
        <p:nvSpPr>
          <p:cNvPr id="258" name="Google Shape;258;g3f9c4288db4_0_442"/>
          <p:cNvSpPr/>
          <p:nvPr/>
        </p:nvSpPr>
        <p:spPr>
          <a:xfrm>
            <a:off x="2114550" y="370415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g3f9c4288db4_0_442"/>
          <p:cNvSpPr/>
          <p:nvPr/>
        </p:nvSpPr>
        <p:spPr>
          <a:xfrm>
            <a:off x="5981700" y="370415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f9c4288db4_0_442"/>
          <p:cNvSpPr/>
          <p:nvPr/>
        </p:nvSpPr>
        <p:spPr>
          <a:xfrm>
            <a:off x="9848850" y="395287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